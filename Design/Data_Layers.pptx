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0DBA0"/>
    <a:srgbClr val="E0D6A0"/>
    <a:srgbClr val="E8D6A0"/>
    <a:srgbClr val="E8D1A0"/>
    <a:srgbClr val="EFD182"/>
    <a:srgbClr val="DBB385"/>
    <a:srgbClr val="A1B6C2"/>
    <a:srgbClr val="B5B6C2"/>
    <a:srgbClr val="DBAA7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D4C26C4-6A2B-4359-B180-162AD6B10D00}" v="25" dt="2026-03-19T09:40:50.7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1" d="100"/>
          <a:sy n="51" d="100"/>
        </p:scale>
        <p:origin x="1256" y="2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C354D0-8D57-49D9-C156-FB6BB4983B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669108F-8A9D-FC5E-69C1-4E31DBAE0CF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7AFD3A-2602-0F1A-E07B-505B59F1B3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3C69E3-49DD-48EB-BFCD-3727ABDA1A00}" type="datetimeFigureOut">
              <a:rPr lang="en-GB" smtClean="0"/>
              <a:t>28/03/2026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5D563E-6518-27F3-81B3-1DCB2E483D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98FF0E-05B6-B4A9-8AC6-805F834FEB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BA0538-71A0-4857-93EB-8A742DE3AAE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06310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5F05F-0BD6-D544-F832-E8774E4AB4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65EC5C-DBB1-9370-828D-FF920CB780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62C6F9-E594-15AF-1E57-3437D94B0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3C69E3-49DD-48EB-BFCD-3727ABDA1A00}" type="datetimeFigureOut">
              <a:rPr lang="en-GB" smtClean="0"/>
              <a:t>28/03/2026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0A8924-4E87-7B7C-C71E-6E4BAE516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784EBC-D031-BBC3-11A2-A794DC3F1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BA0538-71A0-4857-93EB-8A742DE3AAE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75160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DC571-B111-F315-34E8-18D9EDDF58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FB7969-8062-F6E8-F058-0AD0D0662E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BEBFD4-30CB-56B0-C9C6-958F3C9BC0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3C69E3-49DD-48EB-BFCD-3727ABDA1A00}" type="datetimeFigureOut">
              <a:rPr lang="en-GB" smtClean="0"/>
              <a:t>28/03/2026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5AA9D70-B6AA-9AC9-637B-99B4CB27C8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D0EF39-A24B-3ACB-A64E-F4D2379362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BA0538-71A0-4857-93EB-8A742DE3AAE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659789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13CD6B-4C66-9DEC-857E-C79C5AB33F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36D633-5B6D-38D7-3662-359605EF6C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B9A9B9-4930-692E-B7A4-F30652F998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F905BD9-A0FD-5974-7399-347B8F8236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3C69E3-49DD-48EB-BFCD-3727ABDA1A00}" type="datetimeFigureOut">
              <a:rPr lang="en-GB" smtClean="0"/>
              <a:t>28/03/2026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7EF975C-1223-BAE4-4186-0A7A44BB0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7571E39-E2F9-C524-DA72-CD841ECBE9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BA0538-71A0-4857-93EB-8A742DE3AAE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848866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A37780-A0AB-BF7D-93D6-4F01DD89C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3C4DCC-B133-8B19-44C8-4835641894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201C53-9A92-92EC-652A-42010485A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282A2B-33B9-C325-795A-78B58E95282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08899F5-DD4D-F8EC-C36E-8FA3A80D6EE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5C8E5BE-A216-93AD-7D5F-73FA0B618A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3C69E3-49DD-48EB-BFCD-3727ABDA1A00}" type="datetimeFigureOut">
              <a:rPr lang="en-GB" smtClean="0"/>
              <a:t>28/03/2026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904B311-BC89-3069-D116-8BBA455E2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41056B2-832B-4AD3-D16D-B204AA3924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BA0538-71A0-4857-93EB-8A742DE3AAE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12674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25FE24-479A-B991-CE6A-663C0CD27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CB5B2C8-B483-05F2-08C2-1B4F4B4147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3C69E3-49DD-48EB-BFCD-3727ABDA1A00}" type="datetimeFigureOut">
              <a:rPr lang="en-GB" smtClean="0"/>
              <a:t>28/03/2026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C25003-0188-4E85-6B5A-6C6C2F5065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286321-4DC6-54C2-4CB9-8A40E6FF8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BA0538-71A0-4857-93EB-8A742DE3AAE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019464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E724736-5A35-CEBB-6DC0-D7FAB8DB95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3C69E3-49DD-48EB-BFCD-3727ABDA1A00}" type="datetimeFigureOut">
              <a:rPr lang="en-GB" smtClean="0"/>
              <a:t>28/03/2026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48FDBBB-2F9D-4D1B-3A81-15C3DF205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07998F-99AD-2D17-2A0D-E33C20D315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BA0538-71A0-4857-93EB-8A742DE3AAE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52920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6ADF07-DEA1-D66F-C529-76F5648F84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EF3D5F-1AA2-F686-06A6-B19C258AD1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C3D5AC1-2E06-22AE-DB9E-5DB0F18F5C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E99E98-B186-E017-2179-C4C19BE0D5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3C69E3-49DD-48EB-BFCD-3727ABDA1A00}" type="datetimeFigureOut">
              <a:rPr lang="en-GB" smtClean="0"/>
              <a:t>28/03/2026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D1D1EC-6B64-14C0-057B-1C6E14ACC1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D63857-8031-4681-3C5C-92CCF1455A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BA0538-71A0-4857-93EB-8A742DE3AAE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2708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B9B7C-C4EA-3F4E-543F-662D140C9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5E46CC8-3FB2-9599-D5A5-36D3E6A308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447AA6D-EA1E-08E7-6A2F-9FB541D261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F784B1-9891-2725-DDE2-CCF485C337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3C69E3-49DD-48EB-BFCD-3727ABDA1A00}" type="datetimeFigureOut">
              <a:rPr lang="en-GB" smtClean="0"/>
              <a:t>28/03/2026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EB75387-2A13-CA9D-7E18-985B7FB5B3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57ADC98-0581-7B6D-2264-ABDC5C9D69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BA0538-71A0-4857-93EB-8A742DE3AAE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446949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E2E25C-0CC3-AE7A-277A-8D45A3973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C9D6E77-1735-CF5E-8169-5866790FF2D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BDEC4B-8CBE-0362-18D5-AA51FFEAD9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3C69E3-49DD-48EB-BFCD-3727ABDA1A00}" type="datetimeFigureOut">
              <a:rPr lang="en-GB" smtClean="0"/>
              <a:t>28/03/2026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9AEE5E2-B000-DB8E-DE28-D1B9BF3DEB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162394-8326-2CBD-7F33-30054EE44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BA0538-71A0-4857-93EB-8A742DE3AAE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1124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FAB1F2E-6082-59C1-39BF-C8D9F3AC9AC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178B1AD-D7FF-4EBB-2CBD-D438F096B8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B5E9661-DC63-0A85-CF50-FD6E348C21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3C69E3-49DD-48EB-BFCD-3727ABDA1A00}" type="datetimeFigureOut">
              <a:rPr lang="en-GB" smtClean="0"/>
              <a:t>28/03/2026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83C279-B9AA-0593-7387-D4A0E7BA0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A13ADA-ED4E-124C-8730-27106C896B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BA0538-71A0-4857-93EB-8A742DE3AAE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06896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98C569A-9F37-EAAC-967F-4C6DE5296E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46112A2-3A90-8024-71FE-8A97549AFB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1A19A5-F472-CF39-5CFF-47D2C0487C9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D3C69E3-49DD-48EB-BFCD-3727ABDA1A00}" type="datetimeFigureOut">
              <a:rPr lang="en-GB" smtClean="0"/>
              <a:t>28/03/2026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470AA9-1B85-F857-8CCB-C3A48E6F505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4F64C7-85CA-6043-314B-398B0CFAF6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BA0538-71A0-4857-93EB-8A742DE3AAE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37878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13" Type="http://schemas.openxmlformats.org/officeDocument/2006/relationships/image" Target="../media/image13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7E649C9-B9C4-634B-B01E-819FA93666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3956" y="501428"/>
            <a:ext cx="10067544" cy="700107"/>
          </a:xfrm>
          <a:prstGeom prst="rect">
            <a:avLst/>
          </a:prstGeom>
        </p:spPr>
      </p:pic>
      <p:sp>
        <p:nvSpPr>
          <p:cNvPr id="4" name="Rectangle 3">
            <a:extLst>
              <a:ext uri="{FF2B5EF4-FFF2-40B4-BE49-F238E27FC236}">
                <a16:creationId xmlns:a16="http://schemas.microsoft.com/office/drawing/2014/main" id="{F05D5831-FACD-72E2-EC4A-5B95AA2C22D8}"/>
              </a:ext>
            </a:extLst>
          </p:cNvPr>
          <p:cNvSpPr/>
          <p:nvPr/>
        </p:nvSpPr>
        <p:spPr>
          <a:xfrm>
            <a:off x="276636" y="1282853"/>
            <a:ext cx="1440000" cy="588723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400" b="1" dirty="0"/>
              <a:t>Definition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82152F0-85BC-B124-2126-A4339BB78C24}"/>
              </a:ext>
            </a:extLst>
          </p:cNvPr>
          <p:cNvSpPr/>
          <p:nvPr/>
        </p:nvSpPr>
        <p:spPr>
          <a:xfrm>
            <a:off x="276635" y="1964310"/>
            <a:ext cx="1440000" cy="588723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400" b="1" dirty="0"/>
              <a:t>Objective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1053D56-5305-F86C-915E-BBAD1E9302D9}"/>
              </a:ext>
            </a:extLst>
          </p:cNvPr>
          <p:cNvSpPr/>
          <p:nvPr/>
        </p:nvSpPr>
        <p:spPr>
          <a:xfrm>
            <a:off x="276635" y="2669692"/>
            <a:ext cx="1440000" cy="588723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400" b="1" dirty="0"/>
              <a:t>Object Type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86F4774-2E47-EDCB-F0C7-9941F3D9C6BE}"/>
              </a:ext>
            </a:extLst>
          </p:cNvPr>
          <p:cNvSpPr/>
          <p:nvPr/>
        </p:nvSpPr>
        <p:spPr>
          <a:xfrm>
            <a:off x="264443" y="3360294"/>
            <a:ext cx="1440000" cy="588723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400" b="1" dirty="0"/>
              <a:t>Load Method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F797988-794C-506D-6124-C46E7F8D7DA9}"/>
              </a:ext>
            </a:extLst>
          </p:cNvPr>
          <p:cNvSpPr/>
          <p:nvPr/>
        </p:nvSpPr>
        <p:spPr>
          <a:xfrm>
            <a:off x="264442" y="4039792"/>
            <a:ext cx="1440000" cy="1282349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400" b="1" dirty="0"/>
              <a:t>Data Transformation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40C8268-E068-BF7E-2C09-796A217B5331}"/>
              </a:ext>
            </a:extLst>
          </p:cNvPr>
          <p:cNvSpPr/>
          <p:nvPr/>
        </p:nvSpPr>
        <p:spPr>
          <a:xfrm>
            <a:off x="252250" y="5412916"/>
            <a:ext cx="1440000" cy="588723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400" b="1" dirty="0"/>
              <a:t>Data Modelling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C804389-68C5-6558-96D1-FA944937CBA2}"/>
              </a:ext>
            </a:extLst>
          </p:cNvPr>
          <p:cNvSpPr/>
          <p:nvPr/>
        </p:nvSpPr>
        <p:spPr>
          <a:xfrm>
            <a:off x="252250" y="6092414"/>
            <a:ext cx="1440000" cy="588723"/>
          </a:xfrm>
          <a:prstGeom prst="rect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1400" b="1" dirty="0"/>
              <a:t>Target Audience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F442F7F-E2A6-25FE-6B35-9531286EF50C}"/>
              </a:ext>
            </a:extLst>
          </p:cNvPr>
          <p:cNvSpPr/>
          <p:nvPr/>
        </p:nvSpPr>
        <p:spPr>
          <a:xfrm>
            <a:off x="1932395" y="1282853"/>
            <a:ext cx="3115093" cy="588723"/>
          </a:xfrm>
          <a:prstGeom prst="rect">
            <a:avLst/>
          </a:prstGeom>
          <a:solidFill>
            <a:srgbClr val="DBB385">
              <a:alpha val="66667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/>
              <a:t>Raw, unprocessed data from sources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34B5DC90-7AB2-A259-7AD9-43A1A74C06AB}"/>
              </a:ext>
            </a:extLst>
          </p:cNvPr>
          <p:cNvSpPr/>
          <p:nvPr/>
        </p:nvSpPr>
        <p:spPr>
          <a:xfrm>
            <a:off x="1929347" y="1965605"/>
            <a:ext cx="3115093" cy="588723"/>
          </a:xfrm>
          <a:prstGeom prst="rect">
            <a:avLst/>
          </a:prstGeom>
          <a:solidFill>
            <a:srgbClr val="DBB385">
              <a:alpha val="66667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/>
              <a:t>Traceability &amp; Debugging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8B1F73E-E1B6-C680-07D0-FFE4504B70EF}"/>
              </a:ext>
            </a:extLst>
          </p:cNvPr>
          <p:cNvSpPr/>
          <p:nvPr/>
        </p:nvSpPr>
        <p:spPr>
          <a:xfrm>
            <a:off x="1944587" y="2666645"/>
            <a:ext cx="3115093" cy="588723"/>
          </a:xfrm>
          <a:prstGeom prst="rect">
            <a:avLst/>
          </a:prstGeom>
          <a:solidFill>
            <a:srgbClr val="DBB385">
              <a:alpha val="66667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/>
              <a:t>Tables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5350EC1-2AD5-0839-A1A0-A5480FF70479}"/>
              </a:ext>
            </a:extLst>
          </p:cNvPr>
          <p:cNvSpPr/>
          <p:nvPr/>
        </p:nvSpPr>
        <p:spPr>
          <a:xfrm>
            <a:off x="1946111" y="3367685"/>
            <a:ext cx="3115093" cy="588723"/>
          </a:xfrm>
          <a:prstGeom prst="rect">
            <a:avLst/>
          </a:prstGeom>
          <a:solidFill>
            <a:srgbClr val="DBB385">
              <a:alpha val="66667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/>
              <a:t>Full Load</a:t>
            </a:r>
          </a:p>
          <a:p>
            <a:pPr algn="ctr"/>
            <a:r>
              <a:rPr lang="en-GB" sz="1400" b="1" dirty="0"/>
              <a:t>(Truncate &amp; insert)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A26E1D7-3419-FAA5-5D9D-E40BC4840DA9}"/>
              </a:ext>
            </a:extLst>
          </p:cNvPr>
          <p:cNvSpPr/>
          <p:nvPr/>
        </p:nvSpPr>
        <p:spPr>
          <a:xfrm>
            <a:off x="1961351" y="4109873"/>
            <a:ext cx="3115093" cy="1171120"/>
          </a:xfrm>
          <a:prstGeom prst="rect">
            <a:avLst/>
          </a:prstGeom>
          <a:solidFill>
            <a:srgbClr val="DBB385">
              <a:alpha val="66667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/>
              <a:t>None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FB2E539-EC9D-B7D2-6644-3C8E4508DBF9}"/>
              </a:ext>
            </a:extLst>
          </p:cNvPr>
          <p:cNvSpPr/>
          <p:nvPr/>
        </p:nvSpPr>
        <p:spPr>
          <a:xfrm>
            <a:off x="1962875" y="5386984"/>
            <a:ext cx="3115093" cy="648000"/>
          </a:xfrm>
          <a:prstGeom prst="rect">
            <a:avLst/>
          </a:prstGeom>
          <a:solidFill>
            <a:srgbClr val="DBB385">
              <a:alpha val="66667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/>
              <a:t>None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840CC4B5-A641-5E36-7D07-4EC5A0077516}"/>
              </a:ext>
            </a:extLst>
          </p:cNvPr>
          <p:cNvSpPr/>
          <p:nvPr/>
        </p:nvSpPr>
        <p:spPr>
          <a:xfrm>
            <a:off x="1964399" y="6115457"/>
            <a:ext cx="3115093" cy="588723"/>
          </a:xfrm>
          <a:prstGeom prst="rect">
            <a:avLst/>
          </a:prstGeom>
          <a:solidFill>
            <a:srgbClr val="DBB385">
              <a:alpha val="66667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b="1" dirty="0"/>
              <a:t>Data Engineers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083C9F51-AE90-9C60-C1F3-F95459E7471D}"/>
              </a:ext>
            </a:extLst>
          </p:cNvPr>
          <p:cNvSpPr/>
          <p:nvPr/>
        </p:nvSpPr>
        <p:spPr>
          <a:xfrm>
            <a:off x="5417783" y="1298093"/>
            <a:ext cx="3115093" cy="588723"/>
          </a:xfrm>
          <a:prstGeom prst="rect">
            <a:avLst/>
          </a:prstGeom>
          <a:solidFill>
            <a:srgbClr val="A1B6C2">
              <a:alpha val="9882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/>
              <a:t>Clean &amp; standardised data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AFD64B1-5F16-1FEE-1CA5-E4695602534C}"/>
              </a:ext>
            </a:extLst>
          </p:cNvPr>
          <p:cNvSpPr/>
          <p:nvPr/>
        </p:nvSpPr>
        <p:spPr>
          <a:xfrm>
            <a:off x="5414735" y="1980845"/>
            <a:ext cx="3115093" cy="588723"/>
          </a:xfrm>
          <a:prstGeom prst="rect">
            <a:avLst/>
          </a:prstGeom>
          <a:solidFill>
            <a:srgbClr val="A1B6C2">
              <a:alpha val="9882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/>
              <a:t>(Intermediate Layer)</a:t>
            </a:r>
          </a:p>
          <a:p>
            <a:pPr algn="ctr"/>
            <a:r>
              <a:rPr lang="en-GB" sz="1400" b="1" dirty="0"/>
              <a:t>Prepare Data for Analysis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43084D07-407C-CD95-0046-ADED579AB281}"/>
              </a:ext>
            </a:extLst>
          </p:cNvPr>
          <p:cNvSpPr/>
          <p:nvPr/>
        </p:nvSpPr>
        <p:spPr>
          <a:xfrm>
            <a:off x="5429975" y="2681885"/>
            <a:ext cx="3115093" cy="588723"/>
          </a:xfrm>
          <a:prstGeom prst="rect">
            <a:avLst/>
          </a:prstGeom>
          <a:solidFill>
            <a:srgbClr val="A1B6C2">
              <a:alpha val="9882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/>
              <a:t>Tables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433DF5D2-2F68-4F79-B501-5FA04C455FFB}"/>
              </a:ext>
            </a:extLst>
          </p:cNvPr>
          <p:cNvSpPr/>
          <p:nvPr/>
        </p:nvSpPr>
        <p:spPr>
          <a:xfrm>
            <a:off x="5431499" y="3382925"/>
            <a:ext cx="3115093" cy="588723"/>
          </a:xfrm>
          <a:prstGeom prst="rect">
            <a:avLst/>
          </a:prstGeom>
          <a:solidFill>
            <a:srgbClr val="A1B6C2">
              <a:alpha val="9882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/>
              <a:t>Full Load</a:t>
            </a:r>
          </a:p>
          <a:p>
            <a:pPr algn="ctr"/>
            <a:r>
              <a:rPr lang="en-GB" sz="1400" b="1" dirty="0"/>
              <a:t>(Truncate &amp; insert)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036ED86-6A91-1127-8BA4-C0E98D44B685}"/>
              </a:ext>
            </a:extLst>
          </p:cNvPr>
          <p:cNvSpPr/>
          <p:nvPr/>
        </p:nvSpPr>
        <p:spPr>
          <a:xfrm>
            <a:off x="5446739" y="4125113"/>
            <a:ext cx="3115093" cy="1171120"/>
          </a:xfrm>
          <a:prstGeom prst="rect">
            <a:avLst/>
          </a:prstGeom>
          <a:solidFill>
            <a:srgbClr val="A1B6C2">
              <a:alpha val="9882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b="1" dirty="0"/>
              <a:t>Data Cleaning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b="1" dirty="0"/>
              <a:t>Data Standardisation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b="1" dirty="0"/>
              <a:t>Data Normalisation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b="1" dirty="0"/>
              <a:t>Derived Columns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b="1" dirty="0"/>
              <a:t>Data Enrichment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654591C-243F-D1FC-8057-FDC6D90A33F7}"/>
              </a:ext>
            </a:extLst>
          </p:cNvPr>
          <p:cNvSpPr/>
          <p:nvPr/>
        </p:nvSpPr>
        <p:spPr>
          <a:xfrm>
            <a:off x="5448263" y="5402224"/>
            <a:ext cx="3115093" cy="648000"/>
          </a:xfrm>
          <a:prstGeom prst="rect">
            <a:avLst/>
          </a:prstGeom>
          <a:solidFill>
            <a:srgbClr val="A1B6C2">
              <a:alpha val="9882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/>
              <a:t>None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28CF1F86-B682-5602-F61F-1624C3F86F07}"/>
              </a:ext>
            </a:extLst>
          </p:cNvPr>
          <p:cNvSpPr/>
          <p:nvPr/>
        </p:nvSpPr>
        <p:spPr>
          <a:xfrm>
            <a:off x="5449787" y="6130697"/>
            <a:ext cx="3115093" cy="588723"/>
          </a:xfrm>
          <a:prstGeom prst="rect">
            <a:avLst/>
          </a:prstGeom>
          <a:solidFill>
            <a:srgbClr val="A1B6C2">
              <a:alpha val="9882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b="1" dirty="0"/>
              <a:t>Data Analysts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b="1" dirty="0"/>
              <a:t>Data Engineers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08F69260-D1AF-364B-962F-CC7A8BC9EAD1}"/>
              </a:ext>
            </a:extLst>
          </p:cNvPr>
          <p:cNvSpPr/>
          <p:nvPr/>
        </p:nvSpPr>
        <p:spPr>
          <a:xfrm>
            <a:off x="8848307" y="1299617"/>
            <a:ext cx="3115093" cy="588723"/>
          </a:xfrm>
          <a:prstGeom prst="rect">
            <a:avLst/>
          </a:prstGeom>
          <a:solidFill>
            <a:srgbClr val="E0DBA0">
              <a:alpha val="72941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/>
              <a:t>Business-Ready data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A32D0F3-6263-B79A-8192-7AE9D184DE12}"/>
              </a:ext>
            </a:extLst>
          </p:cNvPr>
          <p:cNvSpPr/>
          <p:nvPr/>
        </p:nvSpPr>
        <p:spPr>
          <a:xfrm>
            <a:off x="8845259" y="1982369"/>
            <a:ext cx="3115093" cy="588723"/>
          </a:xfrm>
          <a:prstGeom prst="rect">
            <a:avLst/>
          </a:prstGeom>
          <a:solidFill>
            <a:srgbClr val="E0DBA0">
              <a:alpha val="72941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/>
              <a:t>Provide data for reporting </a:t>
            </a:r>
            <a:r>
              <a:rPr lang="en-GB" sz="1400" b="1"/>
              <a:t>and analytics</a:t>
            </a:r>
            <a:endParaRPr lang="en-GB" sz="1400" b="1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12602EA-0636-2F11-FBB5-939D6BD8B725}"/>
              </a:ext>
            </a:extLst>
          </p:cNvPr>
          <p:cNvSpPr/>
          <p:nvPr/>
        </p:nvSpPr>
        <p:spPr>
          <a:xfrm>
            <a:off x="8860499" y="2683409"/>
            <a:ext cx="3115093" cy="588723"/>
          </a:xfrm>
          <a:prstGeom prst="rect">
            <a:avLst/>
          </a:prstGeom>
          <a:solidFill>
            <a:srgbClr val="E0DBA0">
              <a:alpha val="72941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/>
              <a:t>Views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ADEF7AC9-2B2C-3990-D14C-EF46962BC4F9}"/>
              </a:ext>
            </a:extLst>
          </p:cNvPr>
          <p:cNvSpPr/>
          <p:nvPr/>
        </p:nvSpPr>
        <p:spPr>
          <a:xfrm>
            <a:off x="8862023" y="3384449"/>
            <a:ext cx="3115093" cy="588723"/>
          </a:xfrm>
          <a:prstGeom prst="rect">
            <a:avLst/>
          </a:prstGeom>
          <a:solidFill>
            <a:srgbClr val="E0DBA0">
              <a:alpha val="72941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400" b="1" dirty="0"/>
              <a:t>None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841F4D30-AD38-1DFA-22D5-70342FC990E7}"/>
              </a:ext>
            </a:extLst>
          </p:cNvPr>
          <p:cNvSpPr/>
          <p:nvPr/>
        </p:nvSpPr>
        <p:spPr>
          <a:xfrm>
            <a:off x="8877263" y="4126637"/>
            <a:ext cx="3115093" cy="1171120"/>
          </a:xfrm>
          <a:prstGeom prst="rect">
            <a:avLst/>
          </a:prstGeom>
          <a:solidFill>
            <a:srgbClr val="E0DBA0">
              <a:alpha val="72941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b="1" dirty="0"/>
              <a:t>Data Integration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b="1" dirty="0"/>
              <a:t>Data Aggregation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b="1" dirty="0"/>
              <a:t>Business Logic &amp; Rules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DD57192-73F1-0D7F-03AB-63EB063895B8}"/>
              </a:ext>
            </a:extLst>
          </p:cNvPr>
          <p:cNvSpPr/>
          <p:nvPr/>
        </p:nvSpPr>
        <p:spPr>
          <a:xfrm>
            <a:off x="8878787" y="5403748"/>
            <a:ext cx="3115093" cy="648000"/>
          </a:xfrm>
          <a:prstGeom prst="rect">
            <a:avLst/>
          </a:prstGeom>
          <a:solidFill>
            <a:srgbClr val="E0DBA0">
              <a:alpha val="72941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b="1" dirty="0"/>
              <a:t>Star Schema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b="1" dirty="0"/>
              <a:t>Flat Tables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b="1" dirty="0"/>
              <a:t>Aggregated Objects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F0E02010-8BD1-4A5D-E73F-582B04787DD9}"/>
              </a:ext>
            </a:extLst>
          </p:cNvPr>
          <p:cNvSpPr/>
          <p:nvPr/>
        </p:nvSpPr>
        <p:spPr>
          <a:xfrm>
            <a:off x="8880311" y="6132221"/>
            <a:ext cx="3115093" cy="588723"/>
          </a:xfrm>
          <a:prstGeom prst="rect">
            <a:avLst/>
          </a:prstGeom>
          <a:solidFill>
            <a:srgbClr val="E0DBA0">
              <a:alpha val="72941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b="1" dirty="0"/>
              <a:t>Data Analysts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400" b="1" dirty="0"/>
              <a:t>Business Users</a:t>
            </a:r>
          </a:p>
        </p:txBody>
      </p:sp>
    </p:spTree>
    <p:extLst>
      <p:ext uri="{BB962C8B-B14F-4D97-AF65-F5344CB8AC3E}">
        <p14:creationId xmlns:p14="http://schemas.microsoft.com/office/powerpoint/2010/main" val="12164355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838C5F2-804D-6FBB-FCD1-42DBD9B5E1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3883F3E0-475D-2DF1-450C-FD25D11C01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59" y="2140372"/>
            <a:ext cx="1276414" cy="2539773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4E8793D4-0C16-1FCB-CB5A-6510828CBF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15384" y="682932"/>
            <a:ext cx="1035103" cy="463148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6C0BA6CF-027C-A111-4091-2BE050F8085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86703" y="1406013"/>
            <a:ext cx="6496405" cy="400071"/>
          </a:xfrm>
          <a:prstGeom prst="rect">
            <a:avLst/>
          </a:prstGeom>
        </p:spPr>
      </p:pic>
      <p:sp>
        <p:nvSpPr>
          <p:cNvPr id="37" name="TextBox 36">
            <a:extLst>
              <a:ext uri="{FF2B5EF4-FFF2-40B4-BE49-F238E27FC236}">
                <a16:creationId xmlns:a16="http://schemas.microsoft.com/office/drawing/2014/main" id="{D7A3B3AF-39E9-F21B-8F74-5CF45D842F98}"/>
              </a:ext>
            </a:extLst>
          </p:cNvPr>
          <p:cNvSpPr txBox="1"/>
          <p:nvPr/>
        </p:nvSpPr>
        <p:spPr>
          <a:xfrm>
            <a:off x="4052900" y="776748"/>
            <a:ext cx="56200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Data Warehouse</a:t>
            </a:r>
          </a:p>
        </p:txBody>
      </p: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1E6C48F-6496-1D7A-C74D-1CA9AE59FA4D}"/>
              </a:ext>
            </a:extLst>
          </p:cNvPr>
          <p:cNvCxnSpPr>
            <a:cxnSpLocks/>
          </p:cNvCxnSpPr>
          <p:nvPr/>
        </p:nvCxnSpPr>
        <p:spPr>
          <a:xfrm>
            <a:off x="2605552" y="721144"/>
            <a:ext cx="0" cy="5868000"/>
          </a:xfrm>
          <a:prstGeom prst="line">
            <a:avLst/>
          </a:prstGeom>
          <a:ln w="15875" cap="flat" cmpd="sng" algn="ctr">
            <a:solidFill>
              <a:schemeClr val="dk1">
                <a:alpha val="67000"/>
              </a:schemeClr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3D79E6FA-D482-73B5-FB9E-FC01365FF2F8}"/>
              </a:ext>
            </a:extLst>
          </p:cNvPr>
          <p:cNvCxnSpPr>
            <a:cxnSpLocks/>
          </p:cNvCxnSpPr>
          <p:nvPr/>
        </p:nvCxnSpPr>
        <p:spPr>
          <a:xfrm>
            <a:off x="10045246" y="684000"/>
            <a:ext cx="0" cy="5904000"/>
          </a:xfrm>
          <a:prstGeom prst="line">
            <a:avLst/>
          </a:prstGeom>
          <a:ln w="15875" cap="flat" cmpd="sng" algn="ctr">
            <a:solidFill>
              <a:schemeClr val="dk1">
                <a:alpha val="67000"/>
              </a:schemeClr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47" name="Picture 46">
            <a:extLst>
              <a:ext uri="{FF2B5EF4-FFF2-40B4-BE49-F238E27FC236}">
                <a16:creationId xmlns:a16="http://schemas.microsoft.com/office/drawing/2014/main" id="{807E613C-39E7-70B6-5F3C-8554ACFD7E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74" y="4569112"/>
            <a:ext cx="1276416" cy="787440"/>
          </a:xfrm>
          <a:prstGeom prst="rect">
            <a:avLst/>
          </a:prstGeom>
        </p:spPr>
      </p:pic>
      <p:sp>
        <p:nvSpPr>
          <p:cNvPr id="49" name="TextBox 48">
            <a:extLst>
              <a:ext uri="{FF2B5EF4-FFF2-40B4-BE49-F238E27FC236}">
                <a16:creationId xmlns:a16="http://schemas.microsoft.com/office/drawing/2014/main" id="{EF0EAC81-9CDF-6FEE-E507-76F8646D45D1}"/>
              </a:ext>
            </a:extLst>
          </p:cNvPr>
          <p:cNvSpPr txBox="1"/>
          <p:nvPr/>
        </p:nvSpPr>
        <p:spPr>
          <a:xfrm>
            <a:off x="1728000" y="2753033"/>
            <a:ext cx="87800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dirty="0"/>
              <a:t>Run Python Pipeline to enlarge Sales &amp; Customer Datasets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0CE05684-1986-B337-AD3B-7A65BDD58D35}"/>
              </a:ext>
            </a:extLst>
          </p:cNvPr>
          <p:cNvCxnSpPr>
            <a:cxnSpLocks/>
          </p:cNvCxnSpPr>
          <p:nvPr/>
        </p:nvCxnSpPr>
        <p:spPr>
          <a:xfrm>
            <a:off x="1528916" y="720000"/>
            <a:ext cx="0" cy="5904000"/>
          </a:xfrm>
          <a:prstGeom prst="line">
            <a:avLst/>
          </a:prstGeom>
          <a:ln w="15875" cap="flat" cmpd="sng" algn="ctr">
            <a:solidFill>
              <a:schemeClr val="dk1">
                <a:alpha val="67000"/>
              </a:schemeClr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A1C28F20-9CE5-879B-6590-416EAC0190D1}"/>
              </a:ext>
            </a:extLst>
          </p:cNvPr>
          <p:cNvCxnSpPr>
            <a:cxnSpLocks/>
          </p:cNvCxnSpPr>
          <p:nvPr/>
        </p:nvCxnSpPr>
        <p:spPr>
          <a:xfrm flipV="1">
            <a:off x="2605552" y="667072"/>
            <a:ext cx="7452000" cy="15860"/>
          </a:xfrm>
          <a:prstGeom prst="line">
            <a:avLst/>
          </a:prstGeom>
          <a:ln w="15875" cap="flat" cmpd="sng" algn="ctr">
            <a:solidFill>
              <a:schemeClr val="dk1">
                <a:alpha val="67000"/>
              </a:schemeClr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97DAFFC1-C755-DFCF-9E40-0808A0E60DAE}"/>
              </a:ext>
            </a:extLst>
          </p:cNvPr>
          <p:cNvCxnSpPr>
            <a:cxnSpLocks/>
          </p:cNvCxnSpPr>
          <p:nvPr/>
        </p:nvCxnSpPr>
        <p:spPr>
          <a:xfrm flipV="1">
            <a:off x="2628000" y="6571365"/>
            <a:ext cx="7416000" cy="15860"/>
          </a:xfrm>
          <a:prstGeom prst="line">
            <a:avLst/>
          </a:prstGeom>
          <a:ln w="15875" cap="flat" cmpd="sng" algn="ctr">
            <a:solidFill>
              <a:schemeClr val="dk1">
                <a:alpha val="67000"/>
              </a:schemeClr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57" name="Picture 56">
            <a:extLst>
              <a:ext uri="{FF2B5EF4-FFF2-40B4-BE49-F238E27FC236}">
                <a16:creationId xmlns:a16="http://schemas.microsoft.com/office/drawing/2014/main" id="{9F00B372-1B2A-962C-A537-59939087A9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86703" y="2001976"/>
            <a:ext cx="1944067" cy="3354576"/>
          </a:xfrm>
          <a:prstGeom prst="rect">
            <a:avLst/>
          </a:prstGeom>
        </p:spPr>
      </p:pic>
      <p:pic>
        <p:nvPicPr>
          <p:cNvPr id="67" name="Picture 66">
            <a:extLst>
              <a:ext uri="{FF2B5EF4-FFF2-40B4-BE49-F238E27FC236}">
                <a16:creationId xmlns:a16="http://schemas.microsoft.com/office/drawing/2014/main" id="{15804103-016F-88BB-9EB8-991FF271E9C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910787" y="2084439"/>
            <a:ext cx="1120872" cy="2705964"/>
          </a:xfrm>
          <a:prstGeom prst="rect">
            <a:avLst/>
          </a:prstGeom>
        </p:spPr>
      </p:pic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D3276C01-0819-C1C3-B49E-0AD7D2D70651}"/>
              </a:ext>
            </a:extLst>
          </p:cNvPr>
          <p:cNvCxnSpPr/>
          <p:nvPr/>
        </p:nvCxnSpPr>
        <p:spPr>
          <a:xfrm>
            <a:off x="5535570" y="2011808"/>
            <a:ext cx="194400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1" name="Picture 70">
            <a:extLst>
              <a:ext uri="{FF2B5EF4-FFF2-40B4-BE49-F238E27FC236}">
                <a16:creationId xmlns:a16="http://schemas.microsoft.com/office/drawing/2014/main" id="{BE330FBF-B8C8-332F-A11C-5A7DA16FF6A3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24509" y="4846192"/>
            <a:ext cx="1749251" cy="843584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BCF3734E-F6BB-8115-5B1C-239AF53BACD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3106" y="2609017"/>
            <a:ext cx="2264069" cy="2813504"/>
          </a:xfrm>
          <a:prstGeom prst="rect">
            <a:avLst/>
          </a:prstGeom>
        </p:spPr>
      </p:pic>
      <p:pic>
        <p:nvPicPr>
          <p:cNvPr id="75" name="Picture 74">
            <a:extLst>
              <a:ext uri="{FF2B5EF4-FFF2-40B4-BE49-F238E27FC236}">
                <a16:creationId xmlns:a16="http://schemas.microsoft.com/office/drawing/2014/main" id="{D48EBE85-8A61-7D11-28DB-AD996F103CA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99081" y="1936625"/>
            <a:ext cx="2016000" cy="229308"/>
          </a:xfrm>
          <a:prstGeom prst="rect">
            <a:avLst/>
          </a:prstGeom>
        </p:spPr>
      </p:pic>
      <p:sp>
        <p:nvSpPr>
          <p:cNvPr id="76" name="Arrow: Right 75">
            <a:extLst>
              <a:ext uri="{FF2B5EF4-FFF2-40B4-BE49-F238E27FC236}">
                <a16:creationId xmlns:a16="http://schemas.microsoft.com/office/drawing/2014/main" id="{AE84E55B-5A6D-59B7-2AE9-6EC4020A2F00}"/>
              </a:ext>
            </a:extLst>
          </p:cNvPr>
          <p:cNvSpPr/>
          <p:nvPr/>
        </p:nvSpPr>
        <p:spPr>
          <a:xfrm>
            <a:off x="1080000" y="3600000"/>
            <a:ext cx="648000" cy="299474"/>
          </a:xfrm>
          <a:prstGeom prst="rightArrow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7" name="Arrow: Right 76">
            <a:extLst>
              <a:ext uri="{FF2B5EF4-FFF2-40B4-BE49-F238E27FC236}">
                <a16:creationId xmlns:a16="http://schemas.microsoft.com/office/drawing/2014/main" id="{8D11BF32-FC80-4189-DC93-06FEECA45581}"/>
              </a:ext>
            </a:extLst>
          </p:cNvPr>
          <p:cNvSpPr/>
          <p:nvPr/>
        </p:nvSpPr>
        <p:spPr>
          <a:xfrm>
            <a:off x="5089518" y="3600000"/>
            <a:ext cx="787040" cy="299474"/>
          </a:xfrm>
          <a:prstGeom prst="rightArrow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8" name="Arrow: Right 77">
            <a:extLst>
              <a:ext uri="{FF2B5EF4-FFF2-40B4-BE49-F238E27FC236}">
                <a16:creationId xmlns:a16="http://schemas.microsoft.com/office/drawing/2014/main" id="{46EC2730-5174-A29D-9998-1276F59F9CD7}"/>
              </a:ext>
            </a:extLst>
          </p:cNvPr>
          <p:cNvSpPr/>
          <p:nvPr/>
        </p:nvSpPr>
        <p:spPr>
          <a:xfrm>
            <a:off x="7552507" y="3600000"/>
            <a:ext cx="787040" cy="299474"/>
          </a:xfrm>
          <a:prstGeom prst="rightArrow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9" name="Arrow: Right 78">
            <a:extLst>
              <a:ext uri="{FF2B5EF4-FFF2-40B4-BE49-F238E27FC236}">
                <a16:creationId xmlns:a16="http://schemas.microsoft.com/office/drawing/2014/main" id="{2A5D4E8B-BE2B-AC98-0BC1-48D8DAB2B50D}"/>
              </a:ext>
            </a:extLst>
          </p:cNvPr>
          <p:cNvSpPr/>
          <p:nvPr/>
        </p:nvSpPr>
        <p:spPr>
          <a:xfrm>
            <a:off x="9946664" y="3600000"/>
            <a:ext cx="787040" cy="299474"/>
          </a:xfrm>
          <a:prstGeom prst="rightArrow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0" name="Arrow: Right 79">
            <a:extLst>
              <a:ext uri="{FF2B5EF4-FFF2-40B4-BE49-F238E27FC236}">
                <a16:creationId xmlns:a16="http://schemas.microsoft.com/office/drawing/2014/main" id="{2850FBED-0883-EF18-8B00-A495DEC89CB5}"/>
              </a:ext>
            </a:extLst>
          </p:cNvPr>
          <p:cNvSpPr/>
          <p:nvPr/>
        </p:nvSpPr>
        <p:spPr>
          <a:xfrm>
            <a:off x="2518378" y="3604917"/>
            <a:ext cx="787040" cy="299474"/>
          </a:xfrm>
          <a:prstGeom prst="rightArrow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99DE77C-89ED-0213-7159-925BC83ADE11}"/>
              </a:ext>
            </a:extLst>
          </p:cNvPr>
          <p:cNvSpPr txBox="1"/>
          <p:nvPr/>
        </p:nvSpPr>
        <p:spPr>
          <a:xfrm>
            <a:off x="75750" y="752169"/>
            <a:ext cx="1453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Sources</a:t>
            </a:r>
          </a:p>
        </p:txBody>
      </p: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1F526F39-6C14-540F-0562-4689F97F6A67}"/>
              </a:ext>
            </a:extLst>
          </p:cNvPr>
          <p:cNvCxnSpPr>
            <a:cxnSpLocks/>
          </p:cNvCxnSpPr>
          <p:nvPr/>
        </p:nvCxnSpPr>
        <p:spPr>
          <a:xfrm>
            <a:off x="10510716" y="720000"/>
            <a:ext cx="0" cy="5904000"/>
          </a:xfrm>
          <a:prstGeom prst="line">
            <a:avLst/>
          </a:prstGeom>
          <a:ln w="15875" cap="flat" cmpd="sng" algn="ctr">
            <a:solidFill>
              <a:schemeClr val="dk1">
                <a:alpha val="67000"/>
              </a:schemeClr>
            </a:solidFill>
            <a:prstDash val="sysDot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83" name="TextBox 82">
            <a:extLst>
              <a:ext uri="{FF2B5EF4-FFF2-40B4-BE49-F238E27FC236}">
                <a16:creationId xmlns:a16="http://schemas.microsoft.com/office/drawing/2014/main" id="{0489331A-DA70-FDF8-E28D-936B6D6A66FC}"/>
              </a:ext>
            </a:extLst>
          </p:cNvPr>
          <p:cNvSpPr txBox="1"/>
          <p:nvPr/>
        </p:nvSpPr>
        <p:spPr>
          <a:xfrm>
            <a:off x="10620884" y="757085"/>
            <a:ext cx="1453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dirty="0"/>
              <a:t>Consume</a:t>
            </a:r>
          </a:p>
        </p:txBody>
      </p:sp>
      <p:pic>
        <p:nvPicPr>
          <p:cNvPr id="85" name="Picture 84">
            <a:extLst>
              <a:ext uri="{FF2B5EF4-FFF2-40B4-BE49-F238E27FC236}">
                <a16:creationId xmlns:a16="http://schemas.microsoft.com/office/drawing/2014/main" id="{52DD421B-0F81-CF09-E3BE-5157B66FEF58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1011033" y="3272166"/>
            <a:ext cx="847770" cy="993057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72BA8E58-8215-7615-F824-90BE8480DBD3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990218" y="1886441"/>
            <a:ext cx="635311" cy="939543"/>
          </a:xfrm>
          <a:prstGeom prst="rect">
            <a:avLst/>
          </a:prstGeom>
        </p:spPr>
      </p:pic>
      <p:pic>
        <p:nvPicPr>
          <p:cNvPr id="89" name="Picture 88">
            <a:extLst>
              <a:ext uri="{FF2B5EF4-FFF2-40B4-BE49-F238E27FC236}">
                <a16:creationId xmlns:a16="http://schemas.microsoft.com/office/drawing/2014/main" id="{CEFD483A-C30A-69C1-206A-67FB8DD4549B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711930" y="2854303"/>
            <a:ext cx="1362120" cy="299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35077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</TotalTime>
  <Words>109</Words>
  <Application>Microsoft Office PowerPoint</Application>
  <PresentationFormat>Widescreen</PresentationFormat>
  <Paragraphs>45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Neil Robins</dc:creator>
  <cp:lastModifiedBy>Neil Robins</cp:lastModifiedBy>
  <cp:revision>2</cp:revision>
  <dcterms:created xsi:type="dcterms:W3CDTF">2026-03-19T07:39:00Z</dcterms:created>
  <dcterms:modified xsi:type="dcterms:W3CDTF">2026-03-28T09:58:05Z</dcterms:modified>
</cp:coreProperties>
</file>